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53" d="100"/>
          <a:sy n="53" d="100"/>
        </p:scale>
        <p:origin x="1566" y="4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162A4B-DD9B-91A4-0D22-3C86B4B597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976173B-1E83-B8D8-7906-2407CDDD14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4A68F89-9370-673D-5F5B-36B2743C5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E1EEF-4B91-442D-B9C1-D57E59C5EE5A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C96DEA8-47A4-D31F-A1BD-578BEDE67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6E78F23-C020-060B-20E8-5415CE874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FB15-13DD-4142-B803-3DA81942CE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2807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CC210D-69CA-B8C8-0924-A90CD8D32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B4C9F6B-13EB-E060-66A4-1ED9A81C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1959481-5392-95A9-A7C0-A8D20DC1D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E1EEF-4B91-442D-B9C1-D57E59C5EE5A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08C041C-3782-92E4-636A-F6520835A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BB6CBFB-44B1-EEE4-591C-DFF059033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FB15-13DD-4142-B803-3DA81942CE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4364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7F12D4-5C23-3DA6-BE8F-983CE7138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73391A8-B9B0-6B51-8169-4500FC28B6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561E233-7C45-0902-F73B-200111677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E1EEF-4B91-442D-B9C1-D57E59C5EE5A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30364A1-6485-E399-EF4F-3975A2ADE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5A0CE55-8CA6-BE4B-E72B-5A159BD16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FB15-13DD-4142-B803-3DA81942CE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7479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189E12-E2D8-3C53-AA33-28CD6D557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73FB6D-C02D-E43D-B0D0-A564E2560B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8CD64B2-9282-C92C-0134-A9090FEA67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D70069B-404E-7FDF-3868-52475E23C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E1EEF-4B91-442D-B9C1-D57E59C5EE5A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326F0E5-7813-FCC0-D576-C47EC1D45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A801F89-D2D7-79B9-9DD3-6F78C54FB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FB15-13DD-4142-B803-3DA81942CE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1743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89B124-11E6-14C4-38B7-04D508462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9DC6BF1-4052-80A0-DF00-AB27DF5B8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0D17C44-AF06-0798-76A7-ED84F09D5B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47DECA4-9022-5E91-A249-3333E1E53E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C8A910C-8368-C365-5C41-9CDE9BE703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D367A67-CFE7-01D6-8412-C5356849A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E1EEF-4B91-442D-B9C1-D57E59C5EE5A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2BC1ECA-9475-0228-0EDB-3745A66CC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AC6B99B-953E-545C-7780-7557F1B13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FB15-13DD-4142-B803-3DA81942CE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6864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91A832-9E39-EAD5-D024-72EB1CE0D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21303F8-6240-A06B-D3D4-BF56BB4A8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E1EEF-4B91-442D-B9C1-D57E59C5EE5A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4938836-0F46-CB14-D455-9348FC94A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039803D-70A1-7BA0-FF35-6EB6DC36D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FB15-13DD-4142-B803-3DA81942CE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3126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DF89393-5A69-8748-4612-27C23DD78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E1EEF-4B91-442D-B9C1-D57E59C5EE5A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B8B4BF2-C290-F1E2-3E23-06DCF7546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5C4AC35-FC3E-08A8-0C7C-8F0C98EB6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FB15-13DD-4142-B803-3DA81942CE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9139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C8D17C-5A55-88EE-CB62-0E55CC9FA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D67FD4-BC1B-BF52-93FC-D21C9C10B7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6B610E5-5D70-E750-9598-CB1AE102D1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3F048CC-0314-8137-B73D-E9713BD5B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E1EEF-4B91-442D-B9C1-D57E59C5EE5A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27C85A3-F3E0-D8CB-C921-E2BA9D666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D102636-7291-96B6-C109-087A1AE78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FB15-13DD-4142-B803-3DA81942CE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8523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A24C00-90CD-71D9-0D64-09E29AB34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45705AF-9E2D-672A-5E8B-0EA9691C85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1B30C6C-36B7-1796-187E-9626AE3BA0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780CCAF-4216-9AA4-3DE8-4C3C1DE84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E1EEF-4B91-442D-B9C1-D57E59C5EE5A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04052CF-53BB-2429-575F-E29847761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9D8141-305B-BAFB-293B-89ADDA7A7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FB15-13DD-4142-B803-3DA81942CE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5465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260AD0-2A2B-5F7C-8CF6-C45B2B3D0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FA605FC-B56C-DFCA-0D80-067B7FF666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878D1D3-F0A3-B3C8-F809-290362FF5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E1EEF-4B91-442D-B9C1-D57E59C5EE5A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7669837-7E24-35E4-B177-3CF684A9C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80A42C-DF81-5736-84B5-70B98F2E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FB15-13DD-4142-B803-3DA81942CE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6533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6F30C35-7E40-0E72-FAA0-930E365225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EE94624-FF5A-229E-0A5E-1AE99060B5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F821C18-57E4-7C02-27C2-CF8C4D01D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E1EEF-4B91-442D-B9C1-D57E59C5EE5A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56BA703-95F0-962A-6E48-2A7AA8343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89AD100-7504-13DF-8B36-C442E5A87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FB15-13DD-4142-B803-3DA81942CE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2679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B98DDB-5955-5C50-1274-E6E40910D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2B78367-A8DE-8455-95FF-CEF41B5072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B37FC80-A17F-79F7-ED19-F6EEEF432A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9E1EEF-4B91-442D-B9C1-D57E59C5EE5A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69C8CB0-DD74-1BA0-661F-3F98003F4C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3C4B060-7997-2077-F98C-589FAC8D4B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A4FB15-13DD-4142-B803-3DA81942CE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8878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8E6705-E5A4-8608-450F-2C29AACB5849}"/>
              </a:ext>
            </a:extLst>
          </p:cNvPr>
          <p:cNvSpPr txBox="1"/>
          <p:nvPr/>
        </p:nvSpPr>
        <p:spPr>
          <a:xfrm>
            <a:off x="741061" y="1623049"/>
            <a:ext cx="879944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4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Название проекта:</a:t>
            </a:r>
            <a:r>
              <a:rPr lang="ru-RU" sz="4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«Центр цифровой поддержки граждан»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38D416-8968-54DD-ABC6-DDD7B7C2CEAD}"/>
              </a:ext>
            </a:extLst>
          </p:cNvPr>
          <p:cNvSpPr txBox="1"/>
          <p:nvPr/>
        </p:nvSpPr>
        <p:spPr>
          <a:xfrm>
            <a:off x="741061" y="3526792"/>
            <a:ext cx="609904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4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Команда:</a:t>
            </a:r>
            <a:r>
              <a:rPr lang="ru-RU" sz="4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«</a:t>
            </a:r>
            <a:r>
              <a:rPr lang="ru-RU" sz="4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Бурмалда</a:t>
            </a:r>
            <a:r>
              <a:rPr lang="ru-RU" sz="4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</a:p>
        </p:txBody>
      </p:sp>
    </p:spTree>
    <p:extLst>
      <p:ext uri="{BB962C8B-B14F-4D97-AF65-F5344CB8AC3E}">
        <p14:creationId xmlns:p14="http://schemas.microsoft.com/office/powerpoint/2010/main" val="2247373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5E2E0E-02D8-08B9-EBE7-FD05558F0F86}"/>
              </a:ext>
            </a:extLst>
          </p:cNvPr>
          <p:cNvSpPr txBox="1"/>
          <p:nvPr/>
        </p:nvSpPr>
        <p:spPr>
          <a:xfrm>
            <a:off x="1074420" y="1659285"/>
            <a:ext cx="795985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3200" b="1" dirty="0">
                <a:effectLst/>
                <a:latin typeface="YS Geo"/>
              </a:rPr>
              <a:t>Команда проекта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200" b="1" i="0" dirty="0">
                <a:effectLst/>
                <a:latin typeface="YS Geo"/>
              </a:rPr>
              <a:t>Евгения Хоменко</a:t>
            </a:r>
            <a:r>
              <a:rPr lang="ru-RU" sz="3200" b="0" i="0" dirty="0">
                <a:effectLst/>
                <a:latin typeface="YS Geo"/>
              </a:rPr>
              <a:t> — руководитель проекта.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200" b="1" i="0" dirty="0">
                <a:effectLst/>
                <a:latin typeface="YS Geo"/>
              </a:rPr>
              <a:t>Даня Чёрный</a:t>
            </a:r>
            <a:r>
              <a:rPr lang="ru-RU" sz="3200" b="0" i="0" dirty="0">
                <a:effectLst/>
                <a:latin typeface="YS Geo"/>
              </a:rPr>
              <a:t> — консультант.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200" b="1" i="0" dirty="0" err="1">
                <a:effectLst/>
                <a:latin typeface="YS Geo"/>
              </a:rPr>
              <a:t>Саберов</a:t>
            </a:r>
            <a:r>
              <a:rPr lang="ru-RU" sz="3200" b="1" i="0" dirty="0">
                <a:effectLst/>
                <a:latin typeface="YS Geo"/>
              </a:rPr>
              <a:t> Булат</a:t>
            </a:r>
            <a:r>
              <a:rPr lang="ru-RU" sz="3200" b="0" i="0" dirty="0">
                <a:effectLst/>
                <a:latin typeface="YS Geo"/>
              </a:rPr>
              <a:t> — технический специалист.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200" b="1" i="0" dirty="0" err="1">
                <a:effectLst/>
                <a:latin typeface="YS Geo"/>
              </a:rPr>
              <a:t>Чернышёва</a:t>
            </a:r>
            <a:r>
              <a:rPr lang="ru-RU" sz="3200" b="1" i="0" dirty="0">
                <a:effectLst/>
                <a:latin typeface="YS Geo"/>
              </a:rPr>
              <a:t> Наталия</a:t>
            </a:r>
            <a:r>
              <a:rPr lang="ru-RU" sz="3200" b="0" i="0" dirty="0">
                <a:effectLst/>
                <a:latin typeface="YS Geo"/>
              </a:rPr>
              <a:t> — документатор.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200" b="1" i="0" dirty="0" err="1">
                <a:effectLst/>
                <a:latin typeface="YS Geo"/>
              </a:rPr>
              <a:t>Шигарев</a:t>
            </a:r>
            <a:r>
              <a:rPr lang="ru-RU" sz="3200" b="1" i="0" dirty="0">
                <a:effectLst/>
                <a:latin typeface="YS Geo"/>
              </a:rPr>
              <a:t> Егор</a:t>
            </a:r>
            <a:r>
              <a:rPr lang="ru-RU" sz="3200" b="0" i="0" dirty="0">
                <a:effectLst/>
                <a:latin typeface="YS Geo"/>
              </a:rPr>
              <a:t> — специалист по безопасности.</a:t>
            </a:r>
          </a:p>
        </p:txBody>
      </p:sp>
    </p:spTree>
    <p:extLst>
      <p:ext uri="{BB962C8B-B14F-4D97-AF65-F5344CB8AC3E}">
        <p14:creationId xmlns:p14="http://schemas.microsoft.com/office/powerpoint/2010/main" val="2741992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3B71A1-6708-F12B-4311-2F54BE3F6CF6}"/>
              </a:ext>
            </a:extLst>
          </p:cNvPr>
          <p:cNvSpPr txBox="1"/>
          <p:nvPr/>
        </p:nvSpPr>
        <p:spPr>
          <a:xfrm>
            <a:off x="518922" y="1166842"/>
            <a:ext cx="1115415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3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Отсутствие централизованного цифрового ресурса для поддержки граждан.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Разрозненность информации и сервисов.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Низкий уровень цифровой грамотности пользователей.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Сложности в получении оперативной помощи.</a:t>
            </a:r>
          </a:p>
        </p:txBody>
      </p:sp>
    </p:spTree>
    <p:extLst>
      <p:ext uri="{BB962C8B-B14F-4D97-AF65-F5344CB8AC3E}">
        <p14:creationId xmlns:p14="http://schemas.microsoft.com/office/powerpoint/2010/main" val="732717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B8FB66-5862-29D1-41E5-0F7898AADE12}"/>
              </a:ext>
            </a:extLst>
          </p:cNvPr>
          <p:cNvSpPr txBox="1"/>
          <p:nvPr/>
        </p:nvSpPr>
        <p:spPr>
          <a:xfrm>
            <a:off x="314706" y="889843"/>
            <a:ext cx="1156258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3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 единого Центра цифровой поддержки граждан.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Формирование базы знаний (FAQ, инструкции, шаблоны отчётности).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Интеграция с веб‑интерфейсом для удобного доступа.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Обучение пользователей и команды работе с цифровыми сервисами.</a:t>
            </a:r>
          </a:p>
        </p:txBody>
      </p:sp>
    </p:spTree>
    <p:extLst>
      <p:ext uri="{BB962C8B-B14F-4D97-AF65-F5344CB8AC3E}">
        <p14:creationId xmlns:p14="http://schemas.microsoft.com/office/powerpoint/2010/main" val="1155079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BD4B52-A70F-3ABD-48A5-6092AA8F5741}"/>
              </a:ext>
            </a:extLst>
          </p:cNvPr>
          <p:cNvSpPr txBox="1"/>
          <p:nvPr/>
        </p:nvSpPr>
        <p:spPr>
          <a:xfrm>
            <a:off x="292608" y="1109532"/>
            <a:ext cx="1232611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32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Инструменты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2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ru-RU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хранение кода и документации, </a:t>
            </a:r>
            <a:r>
              <a:rPr lang="ru-RU" sz="3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версионный</a:t>
            </a:r>
            <a:r>
              <a:rPr lang="ru-RU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контроль.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Yandex </a:t>
            </a:r>
            <a:r>
              <a:rPr lang="ru-RU" sz="32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</a:t>
            </a:r>
            <a:r>
              <a:rPr lang="ru-RU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развёртывание виртуальной инфраструктуры.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Яндекс 360</a:t>
            </a:r>
            <a:r>
              <a:rPr lang="ru-RU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(Документы, Таблицы) — обмен данными.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2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Telegram</a:t>
            </a:r>
            <a:r>
              <a:rPr lang="ru-RU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оперативная связь.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Антивирусы, системы мониторинга, менеджеры паролей</a:t>
            </a:r>
            <a:r>
              <a:rPr lang="ru-RU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безопасность.</a:t>
            </a:r>
          </a:p>
        </p:txBody>
      </p:sp>
    </p:spTree>
    <p:extLst>
      <p:ext uri="{BB962C8B-B14F-4D97-AF65-F5344CB8AC3E}">
        <p14:creationId xmlns:p14="http://schemas.microsoft.com/office/powerpoint/2010/main" val="3915096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3BEA1D-8FCE-91C6-523C-7C9F8D4BAC87}"/>
              </a:ext>
            </a:extLst>
          </p:cNvPr>
          <p:cNvSpPr txBox="1"/>
          <p:nvPr/>
        </p:nvSpPr>
        <p:spPr>
          <a:xfrm>
            <a:off x="178308" y="1443841"/>
            <a:ext cx="1201369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3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endParaRPr lang="ru-RU" sz="36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Создан репозиторий проекта.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Настроены права доступа.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Освоены базовые операции: коммиты, ветки, пул‑</a:t>
            </a:r>
            <a:r>
              <a:rPr lang="ru-RU" sz="36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реквесты</a:t>
            </a:r>
            <a:r>
              <a:rPr lang="ru-RU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 репозитория: код, документация, дизайн‑макеты</a:t>
            </a:r>
          </a:p>
        </p:txBody>
      </p:sp>
    </p:spTree>
    <p:extLst>
      <p:ext uri="{BB962C8B-B14F-4D97-AF65-F5344CB8AC3E}">
        <p14:creationId xmlns:p14="http://schemas.microsoft.com/office/powerpoint/2010/main" val="4189994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6B03C6-A5E4-99AF-8E92-67D917DEE5C6}"/>
              </a:ext>
            </a:extLst>
          </p:cNvPr>
          <p:cNvSpPr txBox="1"/>
          <p:nvPr/>
        </p:nvSpPr>
        <p:spPr>
          <a:xfrm>
            <a:off x="80772" y="1859107"/>
            <a:ext cx="1211122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dirty="0">
                <a:effectLst/>
                <a:latin typeface="YS Geo"/>
              </a:rPr>
              <a:t> </a:t>
            </a:r>
            <a:r>
              <a:rPr lang="ru-RU" sz="3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Безопасность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Внедрение антивирусной защиты.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Мониторинг сетевой активности.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Использование менеджеров паролей.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Настройка отказоустойчивости системы.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Обучение команды основам информационной безопасности</a:t>
            </a:r>
          </a:p>
        </p:txBody>
      </p:sp>
    </p:spTree>
    <p:extLst>
      <p:ext uri="{BB962C8B-B14F-4D97-AF65-F5344CB8AC3E}">
        <p14:creationId xmlns:p14="http://schemas.microsoft.com/office/powerpoint/2010/main" val="3150109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76EF0A-03E5-FF84-1E79-C843DDEA97A2}"/>
              </a:ext>
            </a:extLst>
          </p:cNvPr>
          <p:cNvSpPr txBox="1"/>
          <p:nvPr/>
        </p:nvSpPr>
        <p:spPr>
          <a:xfrm>
            <a:off x="1375410" y="1659285"/>
            <a:ext cx="944118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32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Практические результаты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Развёрнута виртуальная инфраструктура (машины, сеть).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Сформирована база знаний (FAQ, инструкции).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Освоены ключевые ИТ‑навыки командой.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Создан ИТ‑продукт в области векторной графики.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Подготовлены шаблоны отчётности.</a:t>
            </a:r>
          </a:p>
        </p:txBody>
      </p:sp>
    </p:spTree>
    <p:extLst>
      <p:ext uri="{BB962C8B-B14F-4D97-AF65-F5344CB8AC3E}">
        <p14:creationId xmlns:p14="http://schemas.microsoft.com/office/powerpoint/2010/main" val="2394512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9D48A2-F82D-1AEE-7FF6-8AA997BDA699}"/>
              </a:ext>
            </a:extLst>
          </p:cNvPr>
          <p:cNvSpPr txBox="1"/>
          <p:nvPr/>
        </p:nvSpPr>
        <p:spPr>
          <a:xfrm>
            <a:off x="726948" y="1603308"/>
            <a:ext cx="1026414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800" b="1" dirty="0">
                <a:effectLst/>
                <a:latin typeface="YS Geo"/>
              </a:rPr>
              <a:t>Демонстрация продукта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1" i="0" dirty="0">
                <a:effectLst/>
                <a:latin typeface="YS Geo"/>
              </a:rPr>
              <a:t>Веб‑интерфейс Центра поддержки:</a:t>
            </a:r>
            <a:r>
              <a:rPr lang="ru-RU" sz="2800" b="0" i="0" dirty="0">
                <a:effectLst/>
                <a:latin typeface="YS Geo"/>
              </a:rPr>
              <a:t> демонстрация главной страницы, раздела FAQ, формы запроса.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1" i="0" dirty="0">
                <a:effectLst/>
                <a:latin typeface="YS Geo"/>
              </a:rPr>
              <a:t>Векторная графика:</a:t>
            </a:r>
            <a:endParaRPr lang="ru-RU" sz="2800" b="0" i="0" dirty="0">
              <a:effectLst/>
              <a:latin typeface="YS Geo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2800" b="0" i="0" dirty="0">
                <a:effectLst/>
                <a:latin typeface="YS Geo"/>
              </a:rPr>
              <a:t>логотип проекта;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2800" b="0" i="0" dirty="0">
                <a:effectLst/>
                <a:latin typeface="YS Geo"/>
              </a:rPr>
              <a:t>инфографика: схема взаимодействия пользователя, этапы обработки запроса.</a:t>
            </a:r>
          </a:p>
          <a:p>
            <a:br>
              <a:rPr lang="ru-RU" sz="2800" dirty="0"/>
            </a:b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5995409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5FFFF1-105F-16CD-B474-225A7BADDB1C}"/>
              </a:ext>
            </a:extLst>
          </p:cNvPr>
          <p:cNvSpPr txBox="1"/>
          <p:nvPr/>
        </p:nvSpPr>
        <p:spPr>
          <a:xfrm>
            <a:off x="251460" y="1012954"/>
            <a:ext cx="1194054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Выводы и перспективы проекта</a:t>
            </a:r>
          </a:p>
          <a:p>
            <a:pPr algn="l"/>
            <a:r>
              <a:rPr lang="ru-RU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Достижения:</a:t>
            </a:r>
            <a:endParaRPr lang="ru-RU" sz="28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создан функционирующий Центр цифровой поддержки;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команда освоила </a:t>
            </a:r>
            <a:r>
              <a:rPr lang="ru-RU" sz="28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ru-RU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облачные платформы и инструменты дизайна;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база знаний готова к внедрению.</a:t>
            </a:r>
          </a:p>
          <a:p>
            <a:pPr algn="l"/>
            <a:r>
              <a:rPr lang="ru-RU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Перспективы:</a:t>
            </a:r>
            <a:endParaRPr lang="ru-RU" sz="28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расширение базы знаний на основе обратной связи;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автоматизация обработки запросов (чат‑боты);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интеграция с государственными сервисами;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развитие векторной графики для обучающих материалов.</a:t>
            </a:r>
          </a:p>
          <a:p>
            <a:pPr algn="l"/>
            <a:r>
              <a:rPr lang="ru-RU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Итог:</a:t>
            </a:r>
            <a:r>
              <a:rPr lang="ru-RU" sz="2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проект успешно завершён, продукт готов к пилотному запуску.</a:t>
            </a:r>
          </a:p>
        </p:txBody>
      </p:sp>
    </p:spTree>
    <p:extLst>
      <p:ext uri="{BB962C8B-B14F-4D97-AF65-F5344CB8AC3E}">
        <p14:creationId xmlns:p14="http://schemas.microsoft.com/office/powerpoint/2010/main" val="214315094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349</Words>
  <Application>Microsoft Office PowerPoint</Application>
  <PresentationFormat>Широкоэкранный</PresentationFormat>
  <Paragraphs>58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Times New Roman</vt:lpstr>
      <vt:lpstr>YS Geo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408</dc:creator>
  <cp:lastModifiedBy>408</cp:lastModifiedBy>
  <cp:revision>1</cp:revision>
  <dcterms:created xsi:type="dcterms:W3CDTF">2026-06-05T07:01:11Z</dcterms:created>
  <dcterms:modified xsi:type="dcterms:W3CDTF">2026-06-05T07:13:29Z</dcterms:modified>
</cp:coreProperties>
</file>